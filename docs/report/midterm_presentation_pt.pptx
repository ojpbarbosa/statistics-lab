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Issuer Opportunity Screener</a:t>
            </a:r>
          </a:p>
          <a:p>
            <a:pPr algn="l">
              <a:spcAft>
                <a:spcPts val="2600"/>
              </a:spcAft>
            </a:pPr>
            <a:r>
              <a:rPr sz="1700" b="0" i="0">
                <a:solidFill>
                  <a:srgbClr val="E9EEF5"/>
                </a:solidFill>
                <a:latin typeface="Segoe UI"/>
              </a:rPr>
              <a:t>Check-in de meio de percurso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João Pedro Ferreira Barbosa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9EEF5"/>
                </a:solidFill>
                <a:latin typeface="Segoe UI"/>
              </a:rPr>
              <a:t>21/07/2026 · semana 2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74320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Um framework de screening que procura nomes corporativos cujo spread sobre o benchmark Brasil torna uma nota offshore digna de pitch para investidores brasileiros.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246888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O que eu quero desta conversa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check-in de meio de percurso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Um enquadramento rápido antes de tudo: esta não é a entrega final, é um alinhamento de meio de percurso. Quero mostrar onde as coisas estão, validar algumas decisões enquanto ainda é barato mudá-las e montar um ciclo de feedback mais rápido para as semanas restantes.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2587752" cy="214884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Reportar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Passar pelo que está construído, o que já funciona e como estão os dados hoje.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514600"/>
            <a:ext cx="2587752" cy="214884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Validar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Checar com vocês as escolhas de framework e critérios: a regra, os pesos, as tolerâncias.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514600"/>
            <a:ext cx="2587752" cy="214884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Destravar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Ser transparente sobre o acesso a dados e as rotas que estou construindo em volta.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514600"/>
            <a:ext cx="2587752" cy="214884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Alinhar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Combinar os próximos passos e conversar mais vezes, em doses menores.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Onde o projeto está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check-in de meio de percurso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A fase de fundação está essencialmente pronta. O screener roda de ponta a ponta hoje, com dados sintéticos cobrindo onde o acesso live ainda está pendente.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502152" cy="1600200"/>
          </a:xfrm>
          <a:prstGeom prst="roundRect">
            <a:avLst>
              <a:gd name="adj" fmla="val 1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125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9EEF5"/>
                </a:solidFill>
                <a:latin typeface="Segoe UI"/>
              </a:rPr>
              <a:t>nomes no universo de screening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502152" cy="1600200"/>
          </a:xfrm>
          <a:prstGeom prst="roundRect">
            <a:avLst>
              <a:gd name="adj" fmla="val 1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100+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9EEF5"/>
                </a:solidFill>
                <a:latin typeface="Segoe UI"/>
              </a:rPr>
              <a:t>testes automatizados, roda em qualquer máquina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148840"/>
            <a:ext cx="3502152" cy="1600200"/>
          </a:xfrm>
          <a:prstGeom prst="roundRect">
            <a:avLst>
              <a:gd name="adj" fmla="val 1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9EEF5"/>
                </a:solidFill>
                <a:latin typeface="Segoe UI"/>
              </a:rPr>
              <a:t>bloqueio aberto, e ele é externo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Segoe UI"/>
              </a:rPr>
              <a:t>O plano de quatro semanas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17720"/>
            <a:ext cx="2674620" cy="502920"/>
          </a:xfrm>
          <a:prstGeom prst="roundRect">
            <a:avLst>
              <a:gd name="adj" fmla="val 18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Semana 1 · feita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9739" y="4617720"/>
            <a:ext cx="2674620" cy="502920"/>
          </a:xfrm>
          <a:prstGeom prst="roundRect">
            <a:avLst>
              <a:gd name="adj" fmla="val 18000"/>
            </a:avLst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Semana 2 · em andamento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3678" y="4617720"/>
            <a:ext cx="2674620" cy="50292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6385C"/>
                </a:solidFill>
                <a:latin typeface="Segoe UI"/>
              </a:rPr>
              <a:t>Semana 3 · resultados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7617" y="4617720"/>
            <a:ext cx="2674620" cy="50292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6385C"/>
                </a:solidFill>
                <a:latin typeface="Segoe UI"/>
              </a:rPr>
              <a:t>Semana 4 · entrega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3986098" y="5184648"/>
            <a:ext cx="164592" cy="128016"/>
          </a:xfrm>
          <a:prstGeom prst="triangle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194" y="5330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03B3B"/>
                </a:solidFill>
                <a:latin typeface="Segoe UI"/>
              </a:rPr>
              <a:t>hoje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Como está montado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check-in de meio de percurso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Um pipeline, cinco estágios, cada um substituível sem tocar nos outros. É isso que me deixa trocar fontes de dados com tudo que vem depois permanecendo idêntico.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1810512" cy="1143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Universo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125 nomes, incluir, quarentenar, restaurar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37460" y="3200400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2743200"/>
            <a:ext cx="1810512" cy="1143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Fontes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BLP, BQuant, Hermes, fixture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77740" y="3200400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66359" y="2743200"/>
            <a:ext cx="1810512" cy="1143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Snapshots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versionados e append-only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18019" y="3200400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2743200"/>
            <a:ext cx="1810512" cy="1143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Scoring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5 blocos, tiers A, B, 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58300" y="3200400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46920" y="2743200"/>
            <a:ext cx="1810512" cy="1143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Dashboard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screen, movers, relatórios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348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egoe UI"/>
              </a:rPr>
              <a:t>Toda classificação carrega uma justificativa em linguagem simples, e todo número pode ser replicado no terminal.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Onde está o acesso a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check-in de meio de percurso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Quatro rotas até os dados, em estados diferentes. A que chegar primeiro alimenta exatamente o mesmo pipeline, então nenhum trabalho é jogado fora.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0820095" cy="969264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85C"/>
                </a:solidFill>
                <a:latin typeface="Segoe UI"/>
              </a:rPr>
              <a:t>Bloomberg Desktop API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Segoe UI"/>
              </a:rPr>
              <a:t>Requisições de bonds em lote estão travadas atrás de uma revisão de workflow. Contatei nosso account manager e ainda estou aguardando retorno.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77095" y="227685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bloqueada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46120"/>
            <a:ext cx="10820095" cy="969264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85C"/>
                </a:solidFill>
                <a:latin typeface="Segoe UI"/>
              </a:rPr>
              <a:t>BQuant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Segoe UI"/>
              </a:rPr>
              <a:t>O screening de bonds no servidor está integrado e funcionando. Ainda devo uma rodada de validação no Terminal.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77095" y="337413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Segoe UI"/>
              </a:rPr>
              <a:t>validando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43400"/>
            <a:ext cx="10820095" cy="969264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85C"/>
                </a:solidFill>
                <a:latin typeface="Segoe UI"/>
              </a:rPr>
              <a:t>API interna Hermes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Segoe UI"/>
              </a:rPr>
              <a:t>Descoberta esta semana. Bonds já fluem pelo endpoint de fetch, e estou conversando com o responsável sobre expor CDS no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77095" y="447141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bonds no 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440680"/>
            <a:ext cx="10820095" cy="969264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85C"/>
                </a:solidFill>
                <a:latin typeface="Segoe UI"/>
              </a:rPr>
              <a:t>Markit Partners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Segoe UI"/>
              </a:rPr>
              <a:t>Acesso solicitado, para dados adicionais de crédito enriquecerem o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7095" y="556869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solicitada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Como o screening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check-in de meio de percurso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A regra central cabe em uma linha: um nome merece atenção quando paga pelo menos o que o Brasil paga. Nomes um pouco abaixo do Brasil só sobrevivem com rating claramente mais forte, e é assim que a Hyundai, a menos 18 bps com A menos, continua dentro.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0320"/>
            <a:ext cx="3579266" cy="502920"/>
          </a:xfrm>
          <a:prstGeom prst="roundRect">
            <a:avLst>
              <a:gd name="adj" fmla="val 14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não viável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2560320"/>
            <a:ext cx="1775917" cy="502920"/>
          </a:xfrm>
          <a:prstGeom prst="roundRect">
            <a:avLst>
              <a:gd name="adj" fmla="val 14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Segoe UI"/>
              </a:rPr>
              <a:t>edge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7" y="2560320"/>
            <a:ext cx="5382615" cy="502920"/>
          </a:xfrm>
          <a:prstGeom prst="roundRect">
            <a:avLst>
              <a:gd name="adj" fmla="val 14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viável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3858" y="309067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-20 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207" y="309067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Segoe UI"/>
              </a:rPr>
              <a:t>O que o score composto pesa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86200"/>
            <a:ext cx="3759601" cy="457200"/>
          </a:xfrm>
          <a:prstGeom prst="roundRect">
            <a:avLst>
              <a:gd name="adj" fmla="val 14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61688"/>
            <a:ext cx="375960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Spread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2833" y="3886200"/>
            <a:ext cx="2136587" cy="457200"/>
          </a:xfrm>
          <a:prstGeom prst="roundRect">
            <a:avLst>
              <a:gd name="adj" fmla="val 14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833" y="4361688"/>
            <a:ext cx="213658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Crédito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6852" y="3886200"/>
            <a:ext cx="2136587" cy="457200"/>
          </a:xfrm>
          <a:prstGeom prst="roundRect">
            <a:avLst>
              <a:gd name="adj" fmla="val 14000"/>
            </a:avLst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Segoe UI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6852" y="4361688"/>
            <a:ext cx="213658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Liquidez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00871" y="3886200"/>
            <a:ext cx="1054577" cy="457200"/>
          </a:xfrm>
          <a:prstGeom prst="roundRect">
            <a:avLst>
              <a:gd name="adj" fmla="val 14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Segoe U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4361688"/>
            <a:ext cx="10545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Equity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82880" y="3886200"/>
            <a:ext cx="1595582" cy="457200"/>
          </a:xfrm>
          <a:prstGeom prst="roundRect">
            <a:avLst>
              <a:gd name="adj" fmla="val 14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Segoe UI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2880" y="4361688"/>
            <a:ext cx="15955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Reconhecimento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A ordem espelha o que importa para a mesa: carrego primeiro, depois segurança de crédito, negociabilidade, a leitura do mercado e o quanto o nome é reconhecível para o cliente. Os scores caem em tiers: A pronto para pitch, B watchlist, C descarte.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Algumas leituras que eu queria de vocês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check-in de meio de percurso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Nenhuma delas me bloqueia, mas as respostas mudam o que eu construo em seguida.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330952" cy="16002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Critérios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A tolerância de 20 bps parece certa? Papel Sr Non-Preferred conta como sênior? Alguma preferência de moeda além de USD?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65960"/>
            <a:ext cx="5330952" cy="16002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Arquivo do universo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Preciso de ratings internos, ISINs para a rota Hermes e overrides de handles para os nomes fora dos EUA.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21608"/>
            <a:ext cx="5330952" cy="16002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Dashboard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Falta alguma visualização ou métrica para o uso real de vocês no dia a dia?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21608"/>
            <a:ext cx="5330952" cy="16002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Cadência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Um check-in curto por semana funciona para vocês, em vez de uma única grande entrega no final?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235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egoe UI"/>
              </a:rPr>
              <a:t>Um pedido sobre o próprio feedback: reações ao framework e aos critérios movem o projeto mais do que reações a nomes individuais.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Um desafio que quero trazer: crescer o universo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check-in de meio de percurso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Hoje todo nome entra no universo à mão, um formulário por vez, e a lista fica congelada até alguém editar. Do ponto de vista de produto isso me incomoda: só analisamos os nomes que já conhecíamos.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95728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Segoe UI"/>
              </a:rPr>
              <a:t>Como funciona hoje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24912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Nome incluído à mão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um formulário por nome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39" y="3044952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2724912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Universo estático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os mesmos 125 nomes até alguém 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Segoe UI"/>
              </a:rPr>
              <a:t>O que eu exploraria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23944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385C"/>
                </a:solidFill>
                <a:latin typeface="Segoe UI"/>
              </a:rPr>
              <a:t>Feeds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Segoe UI"/>
              </a:rPr>
              <a:t>fita do Hermes, membros de índices, novas emissões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39" y="4443983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4123944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385C"/>
                </a:solidFill>
                <a:latin typeface="Segoe UI"/>
              </a:rPr>
              <a:t>Pré-screen automático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Segoe UI"/>
              </a:rPr>
              <a:t>spread vs Brasil, liquidez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33872" y="4443983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7064" y="4123944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385C"/>
                </a:solidFill>
                <a:latin typeface="Segoe UI"/>
              </a:rPr>
              <a:t>Inbox de candidatos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Segoe UI"/>
              </a:rPr>
              <a:t>sugestões ranqueadas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04504" y="4443983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97696" y="4123944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Mesa aprova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E9EEF5"/>
                </a:solidFill>
                <a:latin typeface="Segoe UI"/>
              </a:rPr>
              <a:t>a palavra final continua humana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5780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O Hermes já retorna a fita inteira de bonds para qualquer data. Comparar essa fita com o nosso universo gera candidatos sugeridos pela máquina com spreads já calculados. Nem manual, nem força bruta, e a mesa mantém a última palavra.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A mesma lente, aplicada em outros lugares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check-in de meio de percurso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É aqui que eu acho que agrego mais: olhar o fluxo da mesa com uma visão de engenharia e produto e remover passos manuais entre um sinal e uma decisão. Três lugares onde eu aplicaria isso em seguida: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06040"/>
            <a:ext cx="3502152" cy="2286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Análise de crédito embutida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Um one-pager automático por nome: balanço, alavancagem, covenants e notícias, montado pelo sistema para o analista validar em vez de coletar.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606040"/>
            <a:ext cx="3502152" cy="2286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De screen a monitor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Snapshots agendados mais alertas de viradas de viabilidade e movimentos incomuns, para a mesa ser avisada em vez de precisar olhar.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606040"/>
            <a:ext cx="3502152" cy="2286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Um loop de aprendizado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O feedback de vocês sobre nomes, mais backtests sobre os snapshots acumulados, vira evidência para calibrar os pesos do 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Próximos passos, e como eu gostaria de trabalhar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check-in de meio de percurso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502152" cy="173736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Esta semana, qua a sex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Validar a rota Hermes de ponta a ponta e gravar o primeiro snapshot completo do universo inteiro.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00200"/>
            <a:ext cx="3502152" cy="173736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Semana 3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Rodada de resultados: cobertura, distribuição de tiers, principais nomes e movers. Mais a rodada de vocês no arquivo do universo.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600200"/>
            <a:ext cx="3502152" cy="173736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Semana 4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Listas categorizadas de candidatos, o relatório final e a apresentação de encerramento com o handover do código.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E em vez de uma única grande entrega no final, eu preferia um check-in curto por semana, para corrigirmos o rumo enquanto ainda é barato.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617720"/>
            <a:ext cx="1234440" cy="411480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check-in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4617720"/>
            <a:ext cx="1234440" cy="411480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check-in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4617720"/>
            <a:ext cx="1234440" cy="411480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check-in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617720"/>
            <a:ext cx="1234440" cy="411480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check-in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